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8" r:id="rId2"/>
    <p:sldId id="260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세정" initials="최" lastIdx="12" clrIdx="0">
    <p:extLst>
      <p:ext uri="{19B8F6BF-5375-455C-9EA6-DF929625EA0E}">
        <p15:presenceInfo xmlns:p15="http://schemas.microsoft.com/office/powerpoint/2012/main" userId="S-1-5-21-4279772417-2038551170-3258561521-55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7E44"/>
    <a:srgbClr val="3F7E50"/>
    <a:srgbClr val="3E7E44"/>
    <a:srgbClr val="FCC30B"/>
    <a:srgbClr val="A21942"/>
    <a:srgbClr val="19486A"/>
    <a:srgbClr val="26BDE2"/>
    <a:srgbClr val="4C9F38"/>
    <a:srgbClr val="DDA63A"/>
    <a:srgbClr val="C51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0-14T14:13:47.776" idx="3">
    <p:pos x="4149" y="6192"/>
    <p:text>해당 분야 색: 13.05cm
나머지 색: 1cm</p:text>
    <p:extLst mod="1">
      <p:ext uri="{C676402C-5697-4E1C-873F-D02D1690AC5C}">
        <p15:threadingInfo xmlns:p15="http://schemas.microsoft.com/office/powerpoint/2012/main" timeZoneBias="-540"/>
      </p:ext>
    </p:extLst>
  </p:cm>
  <p:cm authorId="1" dt="2021-10-14T14:14:29.963" idx="4">
    <p:pos x="1722" y="234"/>
    <p:text>컬러 변경 필요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4:47.003" idx="5">
    <p:pos x="4311" y="5385"/>
    <p:text>컬러 변경 필요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6:00.853" idx="9">
    <p:pos x="2316" y="6135"/>
    <p:text>페이지 번호 확인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6:35.597" idx="11">
    <p:pos x="1300" y="1816"/>
    <p:text>해당 교훈 관련 SDG 컬러로 변경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0-13T16:30:31.408" idx="1">
    <p:pos x="1450" y="1452"/>
    <p:text>분야 컬러코드 투명도 80% 적용</p:text>
    <p:extLst mod="1">
      <p:ext uri="{C676402C-5697-4E1C-873F-D02D1690AC5C}">
        <p15:threadingInfo xmlns:p15="http://schemas.microsoft.com/office/powerpoint/2012/main" timeZoneBias="-540"/>
      </p:ext>
    </p:extLst>
  </p:cm>
  <p:cm authorId="1" dt="2021-10-13T16:30:52.552" idx="2">
    <p:pos x="1614" y="1864"/>
    <p:text>분야 컬러코드 투명도 40% 적용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4:57.461" idx="6">
    <p:pos x="2424" y="1170"/>
    <p:text>컬러 변경 필요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5:08.905" idx="7">
    <p:pos x="4311" y="4161"/>
    <p:text>컬러 변경 필요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5:35.450" idx="8">
    <p:pos x="4146" y="6192"/>
    <p:text>해당 분야 색: 13.05cm
나머지 색: 1cm</p:text>
    <p:extLst mod="1">
      <p:ext uri="{C676402C-5697-4E1C-873F-D02D1690AC5C}">
        <p15:threadingInfo xmlns:p15="http://schemas.microsoft.com/office/powerpoint/2012/main" timeZoneBias="-540"/>
      </p:ext>
    </p:extLst>
  </p:cm>
  <p:cm authorId="1" dt="2021-10-14T14:16:11.589" idx="10">
    <p:pos x="2142" y="6162"/>
    <p:text>페이지 번호 확인</p:text>
    <p:extLst>
      <p:ext uri="{C676402C-5697-4E1C-873F-D02D1690AC5C}">
        <p15:threadingInfo xmlns:p15="http://schemas.microsoft.com/office/powerpoint/2012/main" timeZoneBias="-540"/>
      </p:ext>
    </p:extLst>
  </p:cm>
  <p:cm authorId="1" dt="2021-10-14T14:16:58.778" idx="12">
    <p:pos x="4302" y="5929"/>
    <p:text>발간 날짜 및 작성자 / 변경 필요</p:text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1FE4-FACA-49BF-802D-D8F9643B7929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924A9-F9DC-4D13-8699-713CD6EC8F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756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A6E7-E135-4651-B5F0-2DD607C66084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33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1AFD1-CCCE-464B-BC48-6D005FD83E6A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3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2130-61BA-47DE-B642-F02C6D26B111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62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2381-0A5C-41CD-A1E1-DF060A883531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5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8EC2-8C79-4FCE-ADD2-B10573A920A8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3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39C7-25B6-43DF-A7E1-FA857DD4CC43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28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86AC-268B-4DF8-AEAE-E644A3ED3F29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46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DD34-E889-42C1-A9DD-F104AED4ACF9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3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E9C21-FAC0-4B83-B79C-F7C854B10F7F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00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CB903-0D61-44B7-AE20-30C7FE2948DB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24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0344-5BB4-4797-8A59-AE0949A5DFDF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20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F9B22-3356-4234-A650-D07540563C26}" type="datetime1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D8591-4AA9-4EEA-90AC-1290E4060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1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koica.go.kr/koica_kr/1294" TargetMode="External"/><Relationship Id="rId2" Type="http://schemas.openxmlformats.org/officeDocument/2006/relationships/hyperlink" Target="http://koica.go.kr/koica_kr/8053" TargetMode="Externa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koica.go.kr/koica_kr/1294" TargetMode="External"/><Relationship Id="rId2" Type="http://schemas.openxmlformats.org/officeDocument/2006/relationships/hyperlink" Target="http://koica.go.kr/koica_kr/8053" TargetMode="Externa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1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B67CB5-95EB-4E64-8357-13E09FF6BDD9}"/>
              </a:ext>
            </a:extLst>
          </p:cNvPr>
          <p:cNvSpPr txBox="1"/>
          <p:nvPr/>
        </p:nvSpPr>
        <p:spPr>
          <a:xfrm>
            <a:off x="1505734" y="105163"/>
            <a:ext cx="52773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2023</a:t>
            </a:r>
            <a:r>
              <a:rPr lang="ko-KR" altLang="en-US" sz="15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년 분야별 교훈 리포트</a:t>
            </a:r>
            <a:r>
              <a:rPr lang="en-US" altLang="ko-KR" sz="15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</a:p>
          <a:p>
            <a:r>
              <a:rPr lang="ko-KR" altLang="en-US" sz="2000" b="1" spc="-30" dirty="0">
                <a:solidFill>
                  <a:srgbClr val="3F7E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기술환경에너지</a:t>
            </a:r>
            <a:r>
              <a:rPr lang="ko-KR" altLang="en-US" sz="2000" b="1" spc="-3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분야 사업평가에서 배우는 교훈</a:t>
            </a:r>
            <a:r>
              <a:rPr lang="en-US" altLang="ko-KR" sz="2000" b="1" spc="-3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BCE8295-D2B3-47F4-BD61-A179780210B5}"/>
              </a:ext>
            </a:extLst>
          </p:cNvPr>
          <p:cNvCxnSpPr>
            <a:cxnSpLocks/>
          </p:cNvCxnSpPr>
          <p:nvPr/>
        </p:nvCxnSpPr>
        <p:spPr>
          <a:xfrm>
            <a:off x="118098" y="838899"/>
            <a:ext cx="651759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6236D1C-34C3-426C-A82C-4CE561B5E61C}"/>
              </a:ext>
            </a:extLst>
          </p:cNvPr>
          <p:cNvGrpSpPr/>
          <p:nvPr/>
        </p:nvGrpSpPr>
        <p:grpSpPr>
          <a:xfrm>
            <a:off x="-1" y="1001690"/>
            <a:ext cx="6858001" cy="1607780"/>
            <a:chOff x="-1" y="941530"/>
            <a:chExt cx="6858001" cy="1607780"/>
          </a:xfrm>
        </p:grpSpPr>
        <p:sp>
          <p:nvSpPr>
            <p:cNvPr id="9" name="사다리꼴 8">
              <a:extLst>
                <a:ext uri="{FF2B5EF4-FFF2-40B4-BE49-F238E27FC236}">
                  <a16:creationId xmlns:a16="http://schemas.microsoft.com/office/drawing/2014/main" id="{D7838243-6921-4926-9EE2-972070986986}"/>
                </a:ext>
              </a:extLst>
            </p:cNvPr>
            <p:cNvSpPr/>
            <p:nvPr/>
          </p:nvSpPr>
          <p:spPr>
            <a:xfrm rot="10800000">
              <a:off x="0" y="941530"/>
              <a:ext cx="6858000" cy="1450237"/>
            </a:xfrm>
            <a:custGeom>
              <a:avLst/>
              <a:gdLst>
                <a:gd name="connsiteX0" fmla="*/ 0 w 3316941"/>
                <a:gd name="connsiteY0" fmla="*/ 884515 h 884515"/>
                <a:gd name="connsiteX1" fmla="*/ 221129 w 3316941"/>
                <a:gd name="connsiteY1" fmla="*/ 0 h 884515"/>
                <a:gd name="connsiteX2" fmla="*/ 3095812 w 3316941"/>
                <a:gd name="connsiteY2" fmla="*/ 0 h 884515"/>
                <a:gd name="connsiteX3" fmla="*/ 3316941 w 3316941"/>
                <a:gd name="connsiteY3" fmla="*/ 884515 h 884515"/>
                <a:gd name="connsiteX4" fmla="*/ 0 w 3316941"/>
                <a:gd name="connsiteY4" fmla="*/ 884515 h 884515"/>
                <a:gd name="connsiteX0" fmla="*/ 0 w 3316942"/>
                <a:gd name="connsiteY0" fmla="*/ 1015998 h 1015998"/>
                <a:gd name="connsiteX1" fmla="*/ 221129 w 3316942"/>
                <a:gd name="connsiteY1" fmla="*/ 131483 h 1015998"/>
                <a:gd name="connsiteX2" fmla="*/ 3316942 w 3316942"/>
                <a:gd name="connsiteY2" fmla="*/ 0 h 1015998"/>
                <a:gd name="connsiteX3" fmla="*/ 3316941 w 3316942"/>
                <a:gd name="connsiteY3" fmla="*/ 1015998 h 1015998"/>
                <a:gd name="connsiteX4" fmla="*/ 0 w 3316942"/>
                <a:gd name="connsiteY4" fmla="*/ 1015998 h 1015998"/>
                <a:gd name="connsiteX0" fmla="*/ 0 w 3316942"/>
                <a:gd name="connsiteY0" fmla="*/ 1015998 h 1015998"/>
                <a:gd name="connsiteX1" fmla="*/ 446594 w 3316942"/>
                <a:gd name="connsiteY1" fmla="*/ 59765 h 1015998"/>
                <a:gd name="connsiteX2" fmla="*/ 3316942 w 3316942"/>
                <a:gd name="connsiteY2" fmla="*/ 0 h 1015998"/>
                <a:gd name="connsiteX3" fmla="*/ 3316941 w 3316942"/>
                <a:gd name="connsiteY3" fmla="*/ 1015998 h 1015998"/>
                <a:gd name="connsiteX4" fmla="*/ 0 w 3316942"/>
                <a:gd name="connsiteY4" fmla="*/ 1015998 h 1015998"/>
                <a:gd name="connsiteX0" fmla="*/ 0 w 3316942"/>
                <a:gd name="connsiteY0" fmla="*/ 1153457 h 1153457"/>
                <a:gd name="connsiteX1" fmla="*/ 446594 w 3316942"/>
                <a:gd name="connsiteY1" fmla="*/ 197224 h 1153457"/>
                <a:gd name="connsiteX2" fmla="*/ 3316942 w 3316942"/>
                <a:gd name="connsiteY2" fmla="*/ 0 h 1153457"/>
                <a:gd name="connsiteX3" fmla="*/ 3316941 w 3316942"/>
                <a:gd name="connsiteY3" fmla="*/ 1153457 h 1153457"/>
                <a:gd name="connsiteX4" fmla="*/ 0 w 3316942"/>
                <a:gd name="connsiteY4" fmla="*/ 1153457 h 1153457"/>
                <a:gd name="connsiteX0" fmla="*/ 0 w 3316942"/>
                <a:gd name="connsiteY0" fmla="*/ 1153457 h 1153457"/>
                <a:gd name="connsiteX1" fmla="*/ 677840 w 3316942"/>
                <a:gd name="connsiteY1" fmla="*/ 65741 h 1153457"/>
                <a:gd name="connsiteX2" fmla="*/ 3316942 w 3316942"/>
                <a:gd name="connsiteY2" fmla="*/ 0 h 1153457"/>
                <a:gd name="connsiteX3" fmla="*/ 3316941 w 3316942"/>
                <a:gd name="connsiteY3" fmla="*/ 1153457 h 1153457"/>
                <a:gd name="connsiteX4" fmla="*/ 0 w 3316942"/>
                <a:gd name="connsiteY4" fmla="*/ 1153457 h 1153457"/>
                <a:gd name="connsiteX0" fmla="*/ 0 w 3316942"/>
                <a:gd name="connsiteY0" fmla="*/ 1153457 h 1153457"/>
                <a:gd name="connsiteX1" fmla="*/ 576670 w 3316942"/>
                <a:gd name="connsiteY1" fmla="*/ 83671 h 1153457"/>
                <a:gd name="connsiteX2" fmla="*/ 3316942 w 3316942"/>
                <a:gd name="connsiteY2" fmla="*/ 0 h 1153457"/>
                <a:gd name="connsiteX3" fmla="*/ 3316941 w 3316942"/>
                <a:gd name="connsiteY3" fmla="*/ 1153457 h 1153457"/>
                <a:gd name="connsiteX4" fmla="*/ 0 w 3316942"/>
                <a:gd name="connsiteY4" fmla="*/ 1153457 h 1153457"/>
                <a:gd name="connsiteX0" fmla="*/ 0 w 3201319"/>
                <a:gd name="connsiteY0" fmla="*/ 1087715 h 1153457"/>
                <a:gd name="connsiteX1" fmla="*/ 461047 w 3201319"/>
                <a:gd name="connsiteY1" fmla="*/ 83671 h 1153457"/>
                <a:gd name="connsiteX2" fmla="*/ 3201319 w 3201319"/>
                <a:gd name="connsiteY2" fmla="*/ 0 h 1153457"/>
                <a:gd name="connsiteX3" fmla="*/ 3201318 w 3201319"/>
                <a:gd name="connsiteY3" fmla="*/ 1153457 h 1153457"/>
                <a:gd name="connsiteX4" fmla="*/ 0 w 3201319"/>
                <a:gd name="connsiteY4" fmla="*/ 1087715 h 115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1319" h="1153457">
                  <a:moveTo>
                    <a:pt x="0" y="1087715"/>
                  </a:moveTo>
                  <a:lnTo>
                    <a:pt x="461047" y="83671"/>
                  </a:lnTo>
                  <a:lnTo>
                    <a:pt x="3201319" y="0"/>
                  </a:lnTo>
                  <a:cubicBezTo>
                    <a:pt x="3201319" y="338666"/>
                    <a:pt x="3201318" y="814791"/>
                    <a:pt x="3201318" y="1153457"/>
                  </a:cubicBezTo>
                  <a:lnTo>
                    <a:pt x="0" y="1087715"/>
                  </a:lnTo>
                  <a:close/>
                </a:path>
              </a:pathLst>
            </a:custGeom>
            <a:solidFill>
              <a:srgbClr val="3F7E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49239-98B1-42A0-9E8A-35D8616A9E12}"/>
                </a:ext>
              </a:extLst>
            </p:cNvPr>
            <p:cNvSpPr txBox="1"/>
            <p:nvPr/>
          </p:nvSpPr>
          <p:spPr>
            <a:xfrm>
              <a:off x="0" y="952530"/>
              <a:ext cx="184083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I. </a:t>
              </a:r>
              <a:r>
                <a:rPr lang="ko-KR" altLang="en-US" sz="13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개요</a:t>
              </a:r>
              <a:r>
                <a:rPr lang="en-US" altLang="ko-KR" sz="13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(OVERVIEW)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3860F5-AF27-4573-B693-6004DE41BBB5}"/>
                </a:ext>
              </a:extLst>
            </p:cNvPr>
            <p:cNvSpPr txBox="1"/>
            <p:nvPr/>
          </p:nvSpPr>
          <p:spPr>
            <a:xfrm>
              <a:off x="-1" y="1225871"/>
              <a:ext cx="6648629" cy="1323439"/>
            </a:xfrm>
            <a:custGeom>
              <a:avLst/>
              <a:gdLst>
                <a:gd name="connsiteX0" fmla="*/ 0 w 6255522"/>
                <a:gd name="connsiteY0" fmla="*/ 0 h 215444"/>
                <a:gd name="connsiteX1" fmla="*/ 6255522 w 6255522"/>
                <a:gd name="connsiteY1" fmla="*/ 0 h 215444"/>
                <a:gd name="connsiteX2" fmla="*/ 6255522 w 6255522"/>
                <a:gd name="connsiteY2" fmla="*/ 215444 h 215444"/>
                <a:gd name="connsiteX3" fmla="*/ 0 w 6255522"/>
                <a:gd name="connsiteY3" fmla="*/ 215444 h 215444"/>
                <a:gd name="connsiteX4" fmla="*/ 0 w 6255522"/>
                <a:gd name="connsiteY4" fmla="*/ 0 h 215444"/>
                <a:gd name="connsiteX0" fmla="*/ 0 w 6255522"/>
                <a:gd name="connsiteY0" fmla="*/ 0 h 976020"/>
                <a:gd name="connsiteX1" fmla="*/ 6255522 w 6255522"/>
                <a:gd name="connsiteY1" fmla="*/ 0 h 976020"/>
                <a:gd name="connsiteX2" fmla="*/ 5905145 w 6255522"/>
                <a:gd name="connsiteY2" fmla="*/ 976020 h 976020"/>
                <a:gd name="connsiteX3" fmla="*/ 0 w 6255522"/>
                <a:gd name="connsiteY3" fmla="*/ 215444 h 976020"/>
                <a:gd name="connsiteX4" fmla="*/ 0 w 6255522"/>
                <a:gd name="connsiteY4" fmla="*/ 0 h 976020"/>
                <a:gd name="connsiteX0" fmla="*/ 0 w 6255522"/>
                <a:gd name="connsiteY0" fmla="*/ 0 h 976020"/>
                <a:gd name="connsiteX1" fmla="*/ 6255522 w 6255522"/>
                <a:gd name="connsiteY1" fmla="*/ 0 h 976020"/>
                <a:gd name="connsiteX2" fmla="*/ 5905145 w 6255522"/>
                <a:gd name="connsiteY2" fmla="*/ 976020 h 976020"/>
                <a:gd name="connsiteX3" fmla="*/ 0 w 6255522"/>
                <a:gd name="connsiteY3" fmla="*/ 215444 h 976020"/>
                <a:gd name="connsiteX4" fmla="*/ 0 w 6255522"/>
                <a:gd name="connsiteY4" fmla="*/ 0 h 976020"/>
                <a:gd name="connsiteX0" fmla="*/ 0 w 6255522"/>
                <a:gd name="connsiteY0" fmla="*/ 0 h 1112752"/>
                <a:gd name="connsiteX1" fmla="*/ 6255522 w 6255522"/>
                <a:gd name="connsiteY1" fmla="*/ 0 h 1112752"/>
                <a:gd name="connsiteX2" fmla="*/ 5905145 w 6255522"/>
                <a:gd name="connsiteY2" fmla="*/ 976020 h 1112752"/>
                <a:gd name="connsiteX3" fmla="*/ 8546 w 6255522"/>
                <a:gd name="connsiteY3" fmla="*/ 1112752 h 1112752"/>
                <a:gd name="connsiteX4" fmla="*/ 0 w 6255522"/>
                <a:gd name="connsiteY4" fmla="*/ 0 h 1112752"/>
                <a:gd name="connsiteX0" fmla="*/ 0 w 6648629"/>
                <a:gd name="connsiteY0" fmla="*/ 0 h 1112752"/>
                <a:gd name="connsiteX1" fmla="*/ 6648629 w 6648629"/>
                <a:gd name="connsiteY1" fmla="*/ 0 h 1112752"/>
                <a:gd name="connsiteX2" fmla="*/ 5905145 w 6648629"/>
                <a:gd name="connsiteY2" fmla="*/ 976020 h 1112752"/>
                <a:gd name="connsiteX3" fmla="*/ 8546 w 6648629"/>
                <a:gd name="connsiteY3" fmla="*/ 1112752 h 1112752"/>
                <a:gd name="connsiteX4" fmla="*/ 0 w 6648629"/>
                <a:gd name="connsiteY4" fmla="*/ 0 h 1112752"/>
                <a:gd name="connsiteX0" fmla="*/ 0 w 6648629"/>
                <a:gd name="connsiteY0" fmla="*/ 0 h 1112752"/>
                <a:gd name="connsiteX1" fmla="*/ 6648629 w 6648629"/>
                <a:gd name="connsiteY1" fmla="*/ 0 h 1112752"/>
                <a:gd name="connsiteX2" fmla="*/ 5862416 w 6648629"/>
                <a:gd name="connsiteY2" fmla="*/ 958928 h 1112752"/>
                <a:gd name="connsiteX3" fmla="*/ 8546 w 6648629"/>
                <a:gd name="connsiteY3" fmla="*/ 1112752 h 1112752"/>
                <a:gd name="connsiteX4" fmla="*/ 0 w 6648629"/>
                <a:gd name="connsiteY4" fmla="*/ 0 h 111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8629" h="1112752">
                  <a:moveTo>
                    <a:pt x="0" y="0"/>
                  </a:moveTo>
                  <a:lnTo>
                    <a:pt x="6648629" y="0"/>
                  </a:lnTo>
                  <a:lnTo>
                    <a:pt x="5862416" y="958928"/>
                  </a:lnTo>
                  <a:lnTo>
                    <a:pt x="8546" y="1112752"/>
                  </a:lnTo>
                  <a:cubicBezTo>
                    <a:pt x="5697" y="741835"/>
                    <a:pt x="2849" y="370917"/>
                    <a:pt x="0" y="0"/>
                  </a:cubicBezTo>
                  <a:close/>
                </a:path>
              </a:pathLst>
            </a:cu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[</a:t>
              </a:r>
              <a:r>
                <a:rPr lang="ko-KR" altLang="en-US" sz="800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예시</a:t>
              </a:r>
              <a:r>
                <a:rPr lang="en-US" altLang="ko-KR" sz="800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] 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KOICA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기술환경에너지 분야는 산업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기술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환경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에너지 등 다양한 세부 분야로 구성되어 있다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.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현재에는 타분야에 비해 그 사업 수가 적은 편이나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탄소중립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기후환경위기 대응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에너지 믹스 등 전세계적으로 환경의 중요성이 커짐에 따라 관련 국제개발협력사업 수가 계속해서 증가하고 있는 추세이다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. SDG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 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7, 9, 13, 14, 15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 달성에도 직접적으로 기여하며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SDGs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전체 목표 달성과도 긴밀하게 연계된다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endPara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2022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년 기술환경에너지 분야 사업평가 교훈분석은 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2021-2022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년 품질검토가 완료된 관련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분야 종합분석보고서 및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개별사업 종료평가 </a:t>
              </a:r>
              <a:endPara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돋움" panose="020B0604000101010101" pitchFamily="50" charset="-127"/>
              </a:endParaRPr>
            </a:p>
            <a:p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보고서를 토대로 하며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돋움" panose="020B0604000101010101" pitchFamily="50" charset="-127"/>
                </a:rPr>
                <a:t>유사사업 추진 시 사업 기획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·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수행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· M&amp;E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과정에서 활용 및 적용될 수 있다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.</a:t>
              </a:r>
            </a:p>
            <a:p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-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구분을 위해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산업 및 기술 분야 교훈은 주황색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도시개발 분야 교훈은 </a:t>
              </a:r>
              <a:r>
                <a:rPr lang="ko-KR" altLang="en-US" sz="800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연주황색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, 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환경 분야 교훈은 초록색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, </a:t>
              </a:r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에너지 분야 교육은 노란색으로 </a:t>
              </a:r>
              <a:endPara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  <a:p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표기되었다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.</a:t>
              </a:r>
              <a:endPara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800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</a:p>
            <a:p>
              <a:endPara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</p:grpSp>
      <p:sp>
        <p:nvSpPr>
          <p:cNvPr id="24" name="사다리꼴 8">
            <a:extLst>
              <a:ext uri="{FF2B5EF4-FFF2-40B4-BE49-F238E27FC236}">
                <a16:creationId xmlns:a16="http://schemas.microsoft.com/office/drawing/2014/main" id="{C59CF13F-2BAA-413F-904A-8750279F9AA2}"/>
              </a:ext>
            </a:extLst>
          </p:cNvPr>
          <p:cNvSpPr/>
          <p:nvPr/>
        </p:nvSpPr>
        <p:spPr>
          <a:xfrm rot="10800000">
            <a:off x="29029" y="8549153"/>
            <a:ext cx="6814455" cy="1128184"/>
          </a:xfrm>
          <a:custGeom>
            <a:avLst/>
            <a:gdLst>
              <a:gd name="connsiteX0" fmla="*/ 0 w 3316941"/>
              <a:gd name="connsiteY0" fmla="*/ 884515 h 884515"/>
              <a:gd name="connsiteX1" fmla="*/ 221129 w 3316941"/>
              <a:gd name="connsiteY1" fmla="*/ 0 h 884515"/>
              <a:gd name="connsiteX2" fmla="*/ 3095812 w 3316941"/>
              <a:gd name="connsiteY2" fmla="*/ 0 h 884515"/>
              <a:gd name="connsiteX3" fmla="*/ 3316941 w 3316941"/>
              <a:gd name="connsiteY3" fmla="*/ 884515 h 884515"/>
              <a:gd name="connsiteX4" fmla="*/ 0 w 3316941"/>
              <a:gd name="connsiteY4" fmla="*/ 884515 h 884515"/>
              <a:gd name="connsiteX0" fmla="*/ 0 w 3316942"/>
              <a:gd name="connsiteY0" fmla="*/ 1015998 h 1015998"/>
              <a:gd name="connsiteX1" fmla="*/ 221129 w 3316942"/>
              <a:gd name="connsiteY1" fmla="*/ 131483 h 1015998"/>
              <a:gd name="connsiteX2" fmla="*/ 3316942 w 3316942"/>
              <a:gd name="connsiteY2" fmla="*/ 0 h 1015998"/>
              <a:gd name="connsiteX3" fmla="*/ 3316941 w 3316942"/>
              <a:gd name="connsiteY3" fmla="*/ 1015998 h 1015998"/>
              <a:gd name="connsiteX4" fmla="*/ 0 w 3316942"/>
              <a:gd name="connsiteY4" fmla="*/ 1015998 h 1015998"/>
              <a:gd name="connsiteX0" fmla="*/ 0 w 3316942"/>
              <a:gd name="connsiteY0" fmla="*/ 1015998 h 1015998"/>
              <a:gd name="connsiteX1" fmla="*/ 446594 w 3316942"/>
              <a:gd name="connsiteY1" fmla="*/ 59765 h 1015998"/>
              <a:gd name="connsiteX2" fmla="*/ 3316942 w 3316942"/>
              <a:gd name="connsiteY2" fmla="*/ 0 h 1015998"/>
              <a:gd name="connsiteX3" fmla="*/ 3316941 w 3316942"/>
              <a:gd name="connsiteY3" fmla="*/ 1015998 h 1015998"/>
              <a:gd name="connsiteX4" fmla="*/ 0 w 3316942"/>
              <a:gd name="connsiteY4" fmla="*/ 1015998 h 1015998"/>
              <a:gd name="connsiteX0" fmla="*/ 0 w 3316942"/>
              <a:gd name="connsiteY0" fmla="*/ 1153457 h 1153457"/>
              <a:gd name="connsiteX1" fmla="*/ 446594 w 3316942"/>
              <a:gd name="connsiteY1" fmla="*/ 197224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316942"/>
              <a:gd name="connsiteY0" fmla="*/ 1153457 h 1153457"/>
              <a:gd name="connsiteX1" fmla="*/ 677840 w 3316942"/>
              <a:gd name="connsiteY1" fmla="*/ 65741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316942"/>
              <a:gd name="connsiteY0" fmla="*/ 1153457 h 1153457"/>
              <a:gd name="connsiteX1" fmla="*/ 576670 w 3316942"/>
              <a:gd name="connsiteY1" fmla="*/ 83671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201319"/>
              <a:gd name="connsiteY0" fmla="*/ 1087715 h 1153457"/>
              <a:gd name="connsiteX1" fmla="*/ 461047 w 3201319"/>
              <a:gd name="connsiteY1" fmla="*/ 83671 h 1153457"/>
              <a:gd name="connsiteX2" fmla="*/ 3201319 w 3201319"/>
              <a:gd name="connsiteY2" fmla="*/ 0 h 1153457"/>
              <a:gd name="connsiteX3" fmla="*/ 3201318 w 3201319"/>
              <a:gd name="connsiteY3" fmla="*/ 1153457 h 1153457"/>
              <a:gd name="connsiteX4" fmla="*/ 0 w 3201319"/>
              <a:gd name="connsiteY4" fmla="*/ 1087715 h 1153457"/>
              <a:gd name="connsiteX0" fmla="*/ 0 w 3201318"/>
              <a:gd name="connsiteY0" fmla="*/ 1114323 h 1180065"/>
              <a:gd name="connsiteX1" fmla="*/ 461047 w 3201318"/>
              <a:gd name="connsiteY1" fmla="*/ 110279 h 1180065"/>
              <a:gd name="connsiteX2" fmla="*/ 3034746 w 3201318"/>
              <a:gd name="connsiteY2" fmla="*/ 0 h 1180065"/>
              <a:gd name="connsiteX3" fmla="*/ 3201318 w 3201318"/>
              <a:gd name="connsiteY3" fmla="*/ 1180065 h 1180065"/>
              <a:gd name="connsiteX4" fmla="*/ 0 w 3201318"/>
              <a:gd name="connsiteY4" fmla="*/ 1114323 h 1180065"/>
              <a:gd name="connsiteX0" fmla="*/ 0 w 3201318"/>
              <a:gd name="connsiteY0" fmla="*/ 1114323 h 1180065"/>
              <a:gd name="connsiteX1" fmla="*/ 148723 w 3201318"/>
              <a:gd name="connsiteY1" fmla="*/ 145756 h 1180065"/>
              <a:gd name="connsiteX2" fmla="*/ 3034746 w 3201318"/>
              <a:gd name="connsiteY2" fmla="*/ 0 h 1180065"/>
              <a:gd name="connsiteX3" fmla="*/ 3201318 w 3201318"/>
              <a:gd name="connsiteY3" fmla="*/ 1180065 h 1180065"/>
              <a:gd name="connsiteX4" fmla="*/ 0 w 3201318"/>
              <a:gd name="connsiteY4" fmla="*/ 1114323 h 1180065"/>
              <a:gd name="connsiteX0" fmla="*/ 0 w 3194543"/>
              <a:gd name="connsiteY0" fmla="*/ 1114323 h 1114323"/>
              <a:gd name="connsiteX1" fmla="*/ 148723 w 3194543"/>
              <a:gd name="connsiteY1" fmla="*/ 145756 h 1114323"/>
              <a:gd name="connsiteX2" fmla="*/ 3034746 w 3194543"/>
              <a:gd name="connsiteY2" fmla="*/ 0 h 1114323"/>
              <a:gd name="connsiteX3" fmla="*/ 3194543 w 3194543"/>
              <a:gd name="connsiteY3" fmla="*/ 937640 h 1114323"/>
              <a:gd name="connsiteX4" fmla="*/ 0 w 3194543"/>
              <a:gd name="connsiteY4" fmla="*/ 1114323 h 1114323"/>
              <a:gd name="connsiteX0" fmla="*/ 0 w 3194543"/>
              <a:gd name="connsiteY0" fmla="*/ 768002 h 937640"/>
              <a:gd name="connsiteX1" fmla="*/ 148723 w 3194543"/>
              <a:gd name="connsiteY1" fmla="*/ 145756 h 937640"/>
              <a:gd name="connsiteX2" fmla="*/ 3034746 w 3194543"/>
              <a:gd name="connsiteY2" fmla="*/ 0 h 937640"/>
              <a:gd name="connsiteX3" fmla="*/ 3194543 w 3194543"/>
              <a:gd name="connsiteY3" fmla="*/ 937640 h 937640"/>
              <a:gd name="connsiteX4" fmla="*/ 0 w 3194543"/>
              <a:gd name="connsiteY4" fmla="*/ 768002 h 937640"/>
              <a:gd name="connsiteX0" fmla="*/ 0 w 3235194"/>
              <a:gd name="connsiteY0" fmla="*/ 1125867 h 1125867"/>
              <a:gd name="connsiteX1" fmla="*/ 189374 w 3235194"/>
              <a:gd name="connsiteY1" fmla="*/ 145756 h 1125867"/>
              <a:gd name="connsiteX2" fmla="*/ 3075397 w 3235194"/>
              <a:gd name="connsiteY2" fmla="*/ 0 h 1125867"/>
              <a:gd name="connsiteX3" fmla="*/ 3235194 w 3235194"/>
              <a:gd name="connsiteY3" fmla="*/ 937640 h 1125867"/>
              <a:gd name="connsiteX4" fmla="*/ 0 w 3235194"/>
              <a:gd name="connsiteY4" fmla="*/ 1125867 h 1125867"/>
              <a:gd name="connsiteX0" fmla="*/ 0 w 3228419"/>
              <a:gd name="connsiteY0" fmla="*/ 1125867 h 1125867"/>
              <a:gd name="connsiteX1" fmla="*/ 189374 w 3228419"/>
              <a:gd name="connsiteY1" fmla="*/ 145756 h 1125867"/>
              <a:gd name="connsiteX2" fmla="*/ 3075397 w 3228419"/>
              <a:gd name="connsiteY2" fmla="*/ 0 h 1125867"/>
              <a:gd name="connsiteX3" fmla="*/ 3228419 w 3228419"/>
              <a:gd name="connsiteY3" fmla="*/ 833743 h 1125867"/>
              <a:gd name="connsiteX4" fmla="*/ 0 w 3228419"/>
              <a:gd name="connsiteY4" fmla="*/ 1125867 h 1125867"/>
              <a:gd name="connsiteX0" fmla="*/ 0 w 3221557"/>
              <a:gd name="connsiteY0" fmla="*/ 964549 h 964549"/>
              <a:gd name="connsiteX1" fmla="*/ 182512 w 3221557"/>
              <a:gd name="connsiteY1" fmla="*/ 145756 h 964549"/>
              <a:gd name="connsiteX2" fmla="*/ 3068535 w 3221557"/>
              <a:gd name="connsiteY2" fmla="*/ 0 h 964549"/>
              <a:gd name="connsiteX3" fmla="*/ 3221557 w 3221557"/>
              <a:gd name="connsiteY3" fmla="*/ 833743 h 964549"/>
              <a:gd name="connsiteX4" fmla="*/ 0 w 3221557"/>
              <a:gd name="connsiteY4" fmla="*/ 964549 h 964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1557" h="964549">
                <a:moveTo>
                  <a:pt x="0" y="964549"/>
                </a:moveTo>
                <a:lnTo>
                  <a:pt x="182512" y="145756"/>
                </a:lnTo>
                <a:lnTo>
                  <a:pt x="3068535" y="0"/>
                </a:lnTo>
                <a:cubicBezTo>
                  <a:pt x="3068535" y="338666"/>
                  <a:pt x="3221557" y="495077"/>
                  <a:pt x="3221557" y="833743"/>
                </a:cubicBezTo>
                <a:lnTo>
                  <a:pt x="0" y="964549"/>
                </a:lnTo>
                <a:close/>
              </a:path>
            </a:pathLst>
          </a:custGeom>
          <a:solidFill>
            <a:srgbClr val="3F7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D951FA-7AE1-4631-8185-B3AC8DC27C6E}"/>
              </a:ext>
            </a:extLst>
          </p:cNvPr>
          <p:cNvSpPr txBox="1"/>
          <p:nvPr/>
        </p:nvSpPr>
        <p:spPr>
          <a:xfrm>
            <a:off x="4693552" y="8621495"/>
            <a:ext cx="19886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참고자료</a:t>
            </a:r>
            <a:r>
              <a:rPr lang="en-US" altLang="ko-KR" sz="13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(REFERENCES)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F465D0-FE7D-420E-8C86-1989CAAF0935}"/>
              </a:ext>
            </a:extLst>
          </p:cNvPr>
          <p:cNvSpPr txBox="1"/>
          <p:nvPr/>
        </p:nvSpPr>
        <p:spPr>
          <a:xfrm>
            <a:off x="296455" y="8757328"/>
            <a:ext cx="6648629" cy="830997"/>
          </a:xfrm>
          <a:custGeom>
            <a:avLst/>
            <a:gdLst>
              <a:gd name="connsiteX0" fmla="*/ 0 w 6255522"/>
              <a:gd name="connsiteY0" fmla="*/ 0 h 215444"/>
              <a:gd name="connsiteX1" fmla="*/ 6255522 w 6255522"/>
              <a:gd name="connsiteY1" fmla="*/ 0 h 215444"/>
              <a:gd name="connsiteX2" fmla="*/ 6255522 w 6255522"/>
              <a:gd name="connsiteY2" fmla="*/ 215444 h 215444"/>
              <a:gd name="connsiteX3" fmla="*/ 0 w 6255522"/>
              <a:gd name="connsiteY3" fmla="*/ 215444 h 215444"/>
              <a:gd name="connsiteX4" fmla="*/ 0 w 6255522"/>
              <a:gd name="connsiteY4" fmla="*/ 0 h 215444"/>
              <a:gd name="connsiteX0" fmla="*/ 0 w 6255522"/>
              <a:gd name="connsiteY0" fmla="*/ 0 h 976020"/>
              <a:gd name="connsiteX1" fmla="*/ 6255522 w 6255522"/>
              <a:gd name="connsiteY1" fmla="*/ 0 h 976020"/>
              <a:gd name="connsiteX2" fmla="*/ 5905145 w 6255522"/>
              <a:gd name="connsiteY2" fmla="*/ 976020 h 976020"/>
              <a:gd name="connsiteX3" fmla="*/ 0 w 6255522"/>
              <a:gd name="connsiteY3" fmla="*/ 215444 h 976020"/>
              <a:gd name="connsiteX4" fmla="*/ 0 w 6255522"/>
              <a:gd name="connsiteY4" fmla="*/ 0 h 976020"/>
              <a:gd name="connsiteX0" fmla="*/ 0 w 6255522"/>
              <a:gd name="connsiteY0" fmla="*/ 0 h 976020"/>
              <a:gd name="connsiteX1" fmla="*/ 6255522 w 6255522"/>
              <a:gd name="connsiteY1" fmla="*/ 0 h 976020"/>
              <a:gd name="connsiteX2" fmla="*/ 5905145 w 6255522"/>
              <a:gd name="connsiteY2" fmla="*/ 976020 h 976020"/>
              <a:gd name="connsiteX3" fmla="*/ 0 w 6255522"/>
              <a:gd name="connsiteY3" fmla="*/ 215444 h 976020"/>
              <a:gd name="connsiteX4" fmla="*/ 0 w 6255522"/>
              <a:gd name="connsiteY4" fmla="*/ 0 h 976020"/>
              <a:gd name="connsiteX0" fmla="*/ 0 w 6255522"/>
              <a:gd name="connsiteY0" fmla="*/ 0 h 1112752"/>
              <a:gd name="connsiteX1" fmla="*/ 6255522 w 6255522"/>
              <a:gd name="connsiteY1" fmla="*/ 0 h 1112752"/>
              <a:gd name="connsiteX2" fmla="*/ 5905145 w 6255522"/>
              <a:gd name="connsiteY2" fmla="*/ 976020 h 1112752"/>
              <a:gd name="connsiteX3" fmla="*/ 8546 w 6255522"/>
              <a:gd name="connsiteY3" fmla="*/ 1112752 h 1112752"/>
              <a:gd name="connsiteX4" fmla="*/ 0 w 6255522"/>
              <a:gd name="connsiteY4" fmla="*/ 0 h 1112752"/>
              <a:gd name="connsiteX0" fmla="*/ 0 w 6648629"/>
              <a:gd name="connsiteY0" fmla="*/ 0 h 1112752"/>
              <a:gd name="connsiteX1" fmla="*/ 6648629 w 6648629"/>
              <a:gd name="connsiteY1" fmla="*/ 0 h 1112752"/>
              <a:gd name="connsiteX2" fmla="*/ 5905145 w 6648629"/>
              <a:gd name="connsiteY2" fmla="*/ 976020 h 1112752"/>
              <a:gd name="connsiteX3" fmla="*/ 8546 w 6648629"/>
              <a:gd name="connsiteY3" fmla="*/ 1112752 h 1112752"/>
              <a:gd name="connsiteX4" fmla="*/ 0 w 6648629"/>
              <a:gd name="connsiteY4" fmla="*/ 0 h 1112752"/>
              <a:gd name="connsiteX0" fmla="*/ 0 w 6648629"/>
              <a:gd name="connsiteY0" fmla="*/ 0 h 1112752"/>
              <a:gd name="connsiteX1" fmla="*/ 6648629 w 6648629"/>
              <a:gd name="connsiteY1" fmla="*/ 0 h 1112752"/>
              <a:gd name="connsiteX2" fmla="*/ 5862416 w 6648629"/>
              <a:gd name="connsiteY2" fmla="*/ 958928 h 1112752"/>
              <a:gd name="connsiteX3" fmla="*/ 8546 w 6648629"/>
              <a:gd name="connsiteY3" fmla="*/ 1112752 h 1112752"/>
              <a:gd name="connsiteX4" fmla="*/ 0 w 6648629"/>
              <a:gd name="connsiteY4" fmla="*/ 0 h 1112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8629" h="1112752">
                <a:moveTo>
                  <a:pt x="0" y="0"/>
                </a:moveTo>
                <a:lnTo>
                  <a:pt x="6648629" y="0"/>
                </a:lnTo>
                <a:lnTo>
                  <a:pt x="5862416" y="958928"/>
                </a:lnTo>
                <a:lnTo>
                  <a:pt x="8546" y="1112752"/>
                </a:lnTo>
                <a:cubicBezTo>
                  <a:pt x="5697" y="741835"/>
                  <a:pt x="2849" y="370917"/>
                  <a:pt x="0" y="0"/>
                </a:cubicBez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① 파라과이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http://koica.go.kr/koica_kr/8053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② 파키스탄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http://koica.go.kr/koica_kr/1234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③ 볼리비아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http://koica.go.kr/koica_kr/1254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④ 우간다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http://koica.go.kr/koica_kr/1294</a:t>
            </a:r>
            <a:endParaRPr lang="en-US" altLang="ko-KR" sz="800" u="sng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⑤ 우즈베키스탄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http://koica.go.kr/koica_kr/1274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⑥ 캄보디아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http://koica.go.kr/koica_kr/1224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88C91B0-D260-4FFB-935C-F0E8C2B5F89B}"/>
              </a:ext>
            </a:extLst>
          </p:cNvPr>
          <p:cNvGrpSpPr/>
          <p:nvPr/>
        </p:nvGrpSpPr>
        <p:grpSpPr>
          <a:xfrm>
            <a:off x="62055" y="2811223"/>
            <a:ext cx="2122007" cy="1811934"/>
            <a:chOff x="62055" y="2811223"/>
            <a:chExt cx="2122007" cy="181193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F0F7EB-EAFA-49A6-8E16-289FD3B23838}"/>
                </a:ext>
              </a:extLst>
            </p:cNvPr>
            <p:cNvSpPr txBox="1"/>
            <p:nvPr/>
          </p:nvSpPr>
          <p:spPr>
            <a:xfrm>
              <a:off x="62055" y="3699827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675F4BA-2D46-4849-95D4-85181D00DC0D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9D829609-7B01-4AA9-9E1E-2E93C2BDC63D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53F13882-221C-4062-8408-CB9AF6C461C1}"/>
                  </a:ext>
                </a:extLst>
              </p:cNvPr>
              <p:cNvSpPr/>
              <p:nvPr/>
            </p:nvSpPr>
            <p:spPr>
              <a:xfrm>
                <a:off x="1022873" y="4220351"/>
                <a:ext cx="2698720" cy="722088"/>
              </a:xfrm>
              <a:prstGeom prst="rect">
                <a:avLst/>
              </a:prstGeom>
              <a:solidFill>
                <a:srgbClr val="1948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수행기관 파트너십 강화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① ②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8559DF-D9C2-49CD-8986-00D4FAC2189E}"/>
                  </a:ext>
                </a:extLst>
              </p:cNvPr>
              <p:cNvSpPr txBox="1"/>
              <p:nvPr/>
            </p:nvSpPr>
            <p:spPr>
              <a:xfrm>
                <a:off x="512192" y="4247535"/>
                <a:ext cx="537304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01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D2822B-DDED-4D1E-A62D-A569A7D00D16}"/>
              </a:ext>
            </a:extLst>
          </p:cNvPr>
          <p:cNvSpPr txBox="1"/>
          <p:nvPr/>
        </p:nvSpPr>
        <p:spPr>
          <a:xfrm>
            <a:off x="-2" y="2475818"/>
            <a:ext cx="3910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II. </a:t>
            </a:r>
            <a:r>
              <a:rPr lang="ko-KR" altLang="en-US" sz="15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교훈</a:t>
            </a:r>
            <a:r>
              <a:rPr lang="en-US" altLang="ko-KR" sz="15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(LESSONS LEAREND)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42D7189-5487-40F7-BC42-293609354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54553"/>
              </p:ext>
            </p:extLst>
          </p:nvPr>
        </p:nvGraphicFramePr>
        <p:xfrm>
          <a:off x="0" y="9789160"/>
          <a:ext cx="6858000" cy="11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51346538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496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54339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251462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8702822"/>
                    </a:ext>
                  </a:extLst>
                </a:gridCol>
                <a:gridCol w="4698000">
                  <a:extLst>
                    <a:ext uri="{9D8B030D-6E8A-4147-A177-3AD203B41FA5}">
                      <a16:colId xmlns:a16="http://schemas.microsoft.com/office/drawing/2014/main" val="10702572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9183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9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9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A63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9F3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30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E4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B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49114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B830B4B8-981A-41C2-92D5-C50CF5AFF359}"/>
              </a:ext>
            </a:extLst>
          </p:cNvPr>
          <p:cNvGrpSpPr/>
          <p:nvPr/>
        </p:nvGrpSpPr>
        <p:grpSpPr>
          <a:xfrm>
            <a:off x="4681261" y="2798982"/>
            <a:ext cx="2122005" cy="1881933"/>
            <a:chOff x="62057" y="2811223"/>
            <a:chExt cx="2122005" cy="188193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0248363-EB63-4FD6-BF5B-03CE9416B18F}"/>
                </a:ext>
              </a:extLst>
            </p:cNvPr>
            <p:cNvSpPr txBox="1"/>
            <p:nvPr/>
          </p:nvSpPr>
          <p:spPr>
            <a:xfrm>
              <a:off x="67027" y="376982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4D71781-4EA3-491C-9A3A-0A12159FFF19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CFCB89D-D065-4CF7-896E-4D351B8FF88C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46B577D-6C8F-4210-BE6E-9E1C3823AF47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734605"/>
              </a:xfrm>
              <a:prstGeom prst="rect">
                <a:avLst/>
              </a:prstGeom>
              <a:solidFill>
                <a:srgbClr val="FCC3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해당 지역 전기 인프라 구축 여부 사전 확인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⑥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B7BA6AF-DBD8-4FE0-B725-6CD910C5039E}"/>
                  </a:ext>
                </a:extLst>
              </p:cNvPr>
              <p:cNvSpPr txBox="1"/>
              <p:nvPr/>
            </p:nvSpPr>
            <p:spPr>
              <a:xfrm>
                <a:off x="512192" y="4259698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03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200114-A0FA-47BA-9113-D00F30FDA486}"/>
              </a:ext>
            </a:extLst>
          </p:cNvPr>
          <p:cNvGrpSpPr/>
          <p:nvPr/>
        </p:nvGrpSpPr>
        <p:grpSpPr>
          <a:xfrm>
            <a:off x="2371659" y="2806932"/>
            <a:ext cx="2128150" cy="1861023"/>
            <a:chOff x="62057" y="2811223"/>
            <a:chExt cx="2128150" cy="1861023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8A8D28-D196-4511-8E5C-AD8DA30A6881}"/>
                </a:ext>
              </a:extLst>
            </p:cNvPr>
            <p:cNvSpPr txBox="1"/>
            <p:nvPr/>
          </p:nvSpPr>
          <p:spPr>
            <a:xfrm>
              <a:off x="80493" y="374891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8A21E259-EAEF-4162-B03D-4493ED677834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71D70D01-D160-4777-B572-D2D4A15416BE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748264B7-9609-453B-A40C-084AC2EB35B9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692482"/>
              </a:xfrm>
              <a:prstGeom prst="rect">
                <a:avLst/>
              </a:prstGeom>
              <a:solidFill>
                <a:srgbClr val="A219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현지 시장경제와 통합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③ ④ ⑤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B0AC2C6-75E6-4ECD-8BA8-A7E6CF3C0492}"/>
                  </a:ext>
                </a:extLst>
              </p:cNvPr>
              <p:cNvSpPr txBox="1"/>
              <p:nvPr/>
            </p:nvSpPr>
            <p:spPr>
              <a:xfrm>
                <a:off x="512192" y="4244712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02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CE5E44B4-2838-433C-83D6-EF481534E07A}"/>
              </a:ext>
            </a:extLst>
          </p:cNvPr>
          <p:cNvGrpSpPr/>
          <p:nvPr/>
        </p:nvGrpSpPr>
        <p:grpSpPr>
          <a:xfrm>
            <a:off x="79513" y="4734980"/>
            <a:ext cx="2122007" cy="1811934"/>
            <a:chOff x="62055" y="2811223"/>
            <a:chExt cx="2122007" cy="1811934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60D17CC-BABB-4ED8-8457-9F4950BC28D6}"/>
                </a:ext>
              </a:extLst>
            </p:cNvPr>
            <p:cNvSpPr txBox="1"/>
            <p:nvPr/>
          </p:nvSpPr>
          <p:spPr>
            <a:xfrm>
              <a:off x="62055" y="3699827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E3D8D74-71F3-4A32-A953-98A15543697A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41A09CE8-18DA-4172-ACCB-C12FF83E6E2A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6FD25085-F100-4EC9-8AAB-2B9388E51D65}"/>
                  </a:ext>
                </a:extLst>
              </p:cNvPr>
              <p:cNvSpPr/>
              <p:nvPr/>
            </p:nvSpPr>
            <p:spPr>
              <a:xfrm>
                <a:off x="1022873" y="4220351"/>
                <a:ext cx="2698720" cy="722088"/>
              </a:xfrm>
              <a:prstGeom prst="rect">
                <a:avLst/>
              </a:prstGeom>
              <a:solidFill>
                <a:srgbClr val="1948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수행기관 파트너십 강화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① ②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C92E9CE-FB4D-4618-9F1E-7D358E963E9B}"/>
                  </a:ext>
                </a:extLst>
              </p:cNvPr>
              <p:cNvSpPr txBox="1"/>
              <p:nvPr/>
            </p:nvSpPr>
            <p:spPr>
              <a:xfrm>
                <a:off x="512192" y="4247535"/>
                <a:ext cx="537304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04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EB8D9F2-1F23-4C26-9375-579F28930CF1}"/>
              </a:ext>
            </a:extLst>
          </p:cNvPr>
          <p:cNvGrpSpPr/>
          <p:nvPr/>
        </p:nvGrpSpPr>
        <p:grpSpPr>
          <a:xfrm>
            <a:off x="2380877" y="4740664"/>
            <a:ext cx="2128150" cy="1861023"/>
            <a:chOff x="62057" y="2811223"/>
            <a:chExt cx="2128150" cy="1861023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8FB671F-E483-4AAC-84D3-E67447AFEFF5}"/>
                </a:ext>
              </a:extLst>
            </p:cNvPr>
            <p:cNvSpPr txBox="1"/>
            <p:nvPr/>
          </p:nvSpPr>
          <p:spPr>
            <a:xfrm>
              <a:off x="80493" y="374891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3AFD69C7-AA22-456E-8B60-129C906A5DBD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111" name="사각형: 둥근 모서리 110">
                <a:extLst>
                  <a:ext uri="{FF2B5EF4-FFF2-40B4-BE49-F238E27FC236}">
                    <a16:creationId xmlns:a16="http://schemas.microsoft.com/office/drawing/2014/main" id="{C16FA4DF-0E9C-4B23-945D-16B9A2B0C05B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1DD2D33-D56F-4E22-AF0C-DA657BEC2FC1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692482"/>
              </a:xfrm>
              <a:prstGeom prst="rect">
                <a:avLst/>
              </a:prstGeom>
              <a:solidFill>
                <a:srgbClr val="A219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현지 시장경제와 통합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③ ④ ⑤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4DC9BCC-A594-42EE-9D4E-2849E60F9434}"/>
                  </a:ext>
                </a:extLst>
              </p:cNvPr>
              <p:cNvSpPr txBox="1"/>
              <p:nvPr/>
            </p:nvSpPr>
            <p:spPr>
              <a:xfrm>
                <a:off x="512192" y="4244712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05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7111C28-13C2-4BCD-9A5A-91F589DE6519}"/>
              </a:ext>
            </a:extLst>
          </p:cNvPr>
          <p:cNvGrpSpPr/>
          <p:nvPr/>
        </p:nvGrpSpPr>
        <p:grpSpPr>
          <a:xfrm>
            <a:off x="4694530" y="4740664"/>
            <a:ext cx="2122005" cy="1881933"/>
            <a:chOff x="62057" y="2811223"/>
            <a:chExt cx="2122005" cy="1881933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7A0CC28-6EB9-4253-9F9D-4D9AAD431555}"/>
                </a:ext>
              </a:extLst>
            </p:cNvPr>
            <p:cNvSpPr txBox="1"/>
            <p:nvPr/>
          </p:nvSpPr>
          <p:spPr>
            <a:xfrm>
              <a:off x="67027" y="376982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7276F74E-15B3-4E3E-9F20-F6609E123837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EB1DCE0C-45D6-404B-A28F-B1AC2768B08A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E444470D-CACF-4183-B516-3A6F3544B6F6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734605"/>
              </a:xfrm>
              <a:prstGeom prst="rect">
                <a:avLst/>
              </a:prstGeom>
              <a:solidFill>
                <a:srgbClr val="FCC3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해당 지역 전기 인프라 구축 여부 사전 확인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⑥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537CC5E-D68D-4BA4-8C67-33375B1905F1}"/>
                  </a:ext>
                </a:extLst>
              </p:cNvPr>
              <p:cNvSpPr txBox="1"/>
              <p:nvPr/>
            </p:nvSpPr>
            <p:spPr>
              <a:xfrm>
                <a:off x="512192" y="4259698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06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64A7465-DAD7-4680-9A9B-095478A99DA9}"/>
              </a:ext>
            </a:extLst>
          </p:cNvPr>
          <p:cNvGrpSpPr/>
          <p:nvPr/>
        </p:nvGrpSpPr>
        <p:grpSpPr>
          <a:xfrm>
            <a:off x="64406" y="6692421"/>
            <a:ext cx="2122007" cy="1811934"/>
            <a:chOff x="62055" y="2811223"/>
            <a:chExt cx="2122007" cy="1811934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25A23E8-C792-4283-89FF-66A0DBCC65AF}"/>
                </a:ext>
              </a:extLst>
            </p:cNvPr>
            <p:cNvSpPr txBox="1"/>
            <p:nvPr/>
          </p:nvSpPr>
          <p:spPr>
            <a:xfrm>
              <a:off x="62055" y="3699827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B76C8624-2553-4D2D-B0F8-1454D848CBD6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8D237D08-013B-4ECC-B96F-1B920F93383A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BAB4AB5B-66C6-42B1-BB69-D2FE404B4EC6}"/>
                  </a:ext>
                </a:extLst>
              </p:cNvPr>
              <p:cNvSpPr/>
              <p:nvPr/>
            </p:nvSpPr>
            <p:spPr>
              <a:xfrm>
                <a:off x="1022873" y="4220351"/>
                <a:ext cx="2698720" cy="722088"/>
              </a:xfrm>
              <a:prstGeom prst="rect">
                <a:avLst/>
              </a:prstGeom>
              <a:solidFill>
                <a:srgbClr val="1948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수행기관 파트너십 강화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① ②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8A2518D-4785-453B-BB25-0F8A3BB52B82}"/>
                  </a:ext>
                </a:extLst>
              </p:cNvPr>
              <p:cNvSpPr txBox="1"/>
              <p:nvPr/>
            </p:nvSpPr>
            <p:spPr>
              <a:xfrm>
                <a:off x="512192" y="4247535"/>
                <a:ext cx="537304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07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9016B088-0DCF-4C70-BBEF-1BC7A6F778D2}"/>
              </a:ext>
            </a:extLst>
          </p:cNvPr>
          <p:cNvGrpSpPr/>
          <p:nvPr/>
        </p:nvGrpSpPr>
        <p:grpSpPr>
          <a:xfrm>
            <a:off x="2399313" y="6695727"/>
            <a:ext cx="2128150" cy="1861023"/>
            <a:chOff x="62057" y="2811223"/>
            <a:chExt cx="2128150" cy="1861023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9234FA0-8E9B-405A-959A-2F828B5D6D72}"/>
                </a:ext>
              </a:extLst>
            </p:cNvPr>
            <p:cNvSpPr txBox="1"/>
            <p:nvPr/>
          </p:nvSpPr>
          <p:spPr>
            <a:xfrm>
              <a:off x="80493" y="374891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D9CAB0E2-D056-4ED4-81C3-97CDD52C01E2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129" name="사각형: 둥근 모서리 128">
                <a:extLst>
                  <a:ext uri="{FF2B5EF4-FFF2-40B4-BE49-F238E27FC236}">
                    <a16:creationId xmlns:a16="http://schemas.microsoft.com/office/drawing/2014/main" id="{ABB5F095-828E-426E-9CC7-F9ADAD9DBAF8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0A5A9442-6162-4385-A5D2-5AB575B29F42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692482"/>
              </a:xfrm>
              <a:prstGeom prst="rect">
                <a:avLst/>
              </a:prstGeom>
              <a:solidFill>
                <a:srgbClr val="A219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현지 시장경제와 통합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③ ④ ⑤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DC08A96-B4E4-4FD8-A576-37DF93DE31C1}"/>
                  </a:ext>
                </a:extLst>
              </p:cNvPr>
              <p:cNvSpPr txBox="1"/>
              <p:nvPr/>
            </p:nvSpPr>
            <p:spPr>
              <a:xfrm>
                <a:off x="512192" y="4244712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08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B346174-D9AC-4AB9-B265-700384A1668A}"/>
              </a:ext>
            </a:extLst>
          </p:cNvPr>
          <p:cNvGrpSpPr/>
          <p:nvPr/>
        </p:nvGrpSpPr>
        <p:grpSpPr>
          <a:xfrm>
            <a:off x="4700675" y="6697509"/>
            <a:ext cx="2122005" cy="1881933"/>
            <a:chOff x="62057" y="2811223"/>
            <a:chExt cx="2122005" cy="1881933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C4C9189-785C-4813-B06F-F012C576B1DF}"/>
                </a:ext>
              </a:extLst>
            </p:cNvPr>
            <p:cNvSpPr txBox="1"/>
            <p:nvPr/>
          </p:nvSpPr>
          <p:spPr>
            <a:xfrm>
              <a:off x="67027" y="3769826"/>
              <a:ext cx="21097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  <a:p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r>
                <a:rPr lang="ko-KR" altLang="en-US" sz="900" b="1" dirty="0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900" b="1" dirty="0" err="1">
                  <a:solidFill>
                    <a:schemeClr val="bg1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  <a:cs typeface="함초롬돋움" panose="020B0604000101010101" pitchFamily="50" charset="-127"/>
                </a:rPr>
                <a:t>설명</a:t>
              </a:r>
              <a:endParaRPr lang="en-US" altLang="ko-KR" sz="9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endParaRP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F95F9405-0792-44A0-8D71-6B0513B43C34}"/>
                </a:ext>
              </a:extLst>
            </p:cNvPr>
            <p:cNvGrpSpPr/>
            <p:nvPr/>
          </p:nvGrpSpPr>
          <p:grpSpPr>
            <a:xfrm>
              <a:off x="62057" y="2811223"/>
              <a:ext cx="2122005" cy="845878"/>
              <a:chOff x="512192" y="4146921"/>
              <a:chExt cx="3403621" cy="864958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8157DA93-EE3D-49A0-9CA3-227256744CAD}"/>
                  </a:ext>
                </a:extLst>
              </p:cNvPr>
              <p:cNvSpPr/>
              <p:nvPr/>
            </p:nvSpPr>
            <p:spPr>
              <a:xfrm>
                <a:off x="531906" y="4146921"/>
                <a:ext cx="3383907" cy="86495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2A62DBD0-36C1-40A8-AAF2-44BF5F58D09D}"/>
                  </a:ext>
                </a:extLst>
              </p:cNvPr>
              <p:cNvSpPr/>
              <p:nvPr/>
            </p:nvSpPr>
            <p:spPr>
              <a:xfrm>
                <a:off x="1022873" y="4220350"/>
                <a:ext cx="2698720" cy="734605"/>
              </a:xfrm>
              <a:prstGeom prst="rect">
                <a:avLst/>
              </a:prstGeom>
              <a:solidFill>
                <a:srgbClr val="FCC3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산뜻돋움" panose="02000000000000000000" pitchFamily="2" charset="-127"/>
                    <a:ea typeface="한컴산뜻돋움" panose="02000000000000000000" pitchFamily="2" charset="-127"/>
                  </a:rPr>
                  <a:t>해당 지역 전기 인프라 구축 여부 사전 확인</a:t>
                </a:r>
                <a:r>
                  <a:rPr lang="ko-KR" altLang="en-US" sz="800" dirty="0">
                    <a:solidFill>
                      <a:prstClr val="white"/>
                    </a:solidFill>
                    <a:latin typeface="한컴산뜻돋움" panose="02000000000000000000" pitchFamily="2" charset="-127"/>
                    <a:ea typeface="한컴산뜻돋움" panose="02000000000000000000" pitchFamily="2" charset="-127"/>
                    <a:cs typeface="함초롬돋움" panose="020B0604000101010101" pitchFamily="50" charset="-127"/>
                  </a:rPr>
                  <a:t> ⑥</a:t>
                </a:r>
                <a:endParaRPr lang="ko-KR" altLang="en-US" sz="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산뜻돋움" panose="02000000000000000000" pitchFamily="2" charset="-127"/>
                  <a:ea typeface="한컴산뜻돋움" panose="02000000000000000000" pitchFamily="2" charset="-127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3D5566D-D987-4AB6-ACC4-63BE242A7932}"/>
                  </a:ext>
                </a:extLst>
              </p:cNvPr>
              <p:cNvSpPr txBox="1"/>
              <p:nvPr/>
            </p:nvSpPr>
            <p:spPr>
              <a:xfrm>
                <a:off x="512192" y="4259698"/>
                <a:ext cx="510681" cy="6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09</a:t>
                </a:r>
                <a:endParaRPr lang="ko-KR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ADFCC3C6-8815-42B9-A92A-136C9B5B64B9}"/>
              </a:ext>
            </a:extLst>
          </p:cNvPr>
          <p:cNvSpPr txBox="1"/>
          <p:nvPr/>
        </p:nvSpPr>
        <p:spPr>
          <a:xfrm>
            <a:off x="3257058" y="9739335"/>
            <a:ext cx="4188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-1-</a:t>
            </a:r>
            <a:endParaRPr lang="ko-KR" altLang="en-US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7E186F5-F1A8-497D-BC74-FA24074AA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62" y="4846311"/>
            <a:ext cx="219475" cy="213378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63C03243-634D-467D-8C68-9E5692F3C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54" y="18704"/>
            <a:ext cx="1390008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9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1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B67CB5-95EB-4E64-8357-13E09FF6BDD9}"/>
              </a:ext>
            </a:extLst>
          </p:cNvPr>
          <p:cNvSpPr txBox="1"/>
          <p:nvPr/>
        </p:nvSpPr>
        <p:spPr>
          <a:xfrm>
            <a:off x="1505734" y="105163"/>
            <a:ext cx="527734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2023</a:t>
            </a:r>
            <a:r>
              <a:rPr lang="ko-KR" altLang="en-US" sz="17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년 분야별 교훈 리포트</a:t>
            </a:r>
            <a:r>
              <a:rPr lang="en-US" altLang="ko-KR" sz="17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</a:p>
          <a:p>
            <a:r>
              <a:rPr lang="ko-KR" altLang="en-US" sz="2000" b="1" spc="-30" dirty="0">
                <a:solidFill>
                  <a:srgbClr val="3F7E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기술환경에너지</a:t>
            </a:r>
            <a:r>
              <a:rPr lang="ko-KR" altLang="en-US" sz="2000" b="1" spc="-3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분야 사업평가에서 배우는 교훈</a:t>
            </a:r>
            <a:r>
              <a:rPr lang="en-US" altLang="ko-KR" sz="2000" b="1" spc="-3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BCE8295-D2B3-47F4-BD61-A179780210B5}"/>
              </a:ext>
            </a:extLst>
          </p:cNvPr>
          <p:cNvCxnSpPr>
            <a:cxnSpLocks/>
          </p:cNvCxnSpPr>
          <p:nvPr/>
        </p:nvCxnSpPr>
        <p:spPr>
          <a:xfrm>
            <a:off x="118098" y="838899"/>
            <a:ext cx="651759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사다리꼴 8">
            <a:extLst>
              <a:ext uri="{FF2B5EF4-FFF2-40B4-BE49-F238E27FC236}">
                <a16:creationId xmlns:a16="http://schemas.microsoft.com/office/drawing/2014/main" id="{C59CF13F-2BAA-413F-904A-8750279F9AA2}"/>
              </a:ext>
            </a:extLst>
          </p:cNvPr>
          <p:cNvSpPr/>
          <p:nvPr/>
        </p:nvSpPr>
        <p:spPr>
          <a:xfrm rot="10800000">
            <a:off x="29028" y="6605337"/>
            <a:ext cx="6814455" cy="3072000"/>
          </a:xfrm>
          <a:custGeom>
            <a:avLst/>
            <a:gdLst>
              <a:gd name="connsiteX0" fmla="*/ 0 w 3316941"/>
              <a:gd name="connsiteY0" fmla="*/ 884515 h 884515"/>
              <a:gd name="connsiteX1" fmla="*/ 221129 w 3316941"/>
              <a:gd name="connsiteY1" fmla="*/ 0 h 884515"/>
              <a:gd name="connsiteX2" fmla="*/ 3095812 w 3316941"/>
              <a:gd name="connsiteY2" fmla="*/ 0 h 884515"/>
              <a:gd name="connsiteX3" fmla="*/ 3316941 w 3316941"/>
              <a:gd name="connsiteY3" fmla="*/ 884515 h 884515"/>
              <a:gd name="connsiteX4" fmla="*/ 0 w 3316941"/>
              <a:gd name="connsiteY4" fmla="*/ 884515 h 884515"/>
              <a:gd name="connsiteX0" fmla="*/ 0 w 3316942"/>
              <a:gd name="connsiteY0" fmla="*/ 1015998 h 1015998"/>
              <a:gd name="connsiteX1" fmla="*/ 221129 w 3316942"/>
              <a:gd name="connsiteY1" fmla="*/ 131483 h 1015998"/>
              <a:gd name="connsiteX2" fmla="*/ 3316942 w 3316942"/>
              <a:gd name="connsiteY2" fmla="*/ 0 h 1015998"/>
              <a:gd name="connsiteX3" fmla="*/ 3316941 w 3316942"/>
              <a:gd name="connsiteY3" fmla="*/ 1015998 h 1015998"/>
              <a:gd name="connsiteX4" fmla="*/ 0 w 3316942"/>
              <a:gd name="connsiteY4" fmla="*/ 1015998 h 1015998"/>
              <a:gd name="connsiteX0" fmla="*/ 0 w 3316942"/>
              <a:gd name="connsiteY0" fmla="*/ 1015998 h 1015998"/>
              <a:gd name="connsiteX1" fmla="*/ 446594 w 3316942"/>
              <a:gd name="connsiteY1" fmla="*/ 59765 h 1015998"/>
              <a:gd name="connsiteX2" fmla="*/ 3316942 w 3316942"/>
              <a:gd name="connsiteY2" fmla="*/ 0 h 1015998"/>
              <a:gd name="connsiteX3" fmla="*/ 3316941 w 3316942"/>
              <a:gd name="connsiteY3" fmla="*/ 1015998 h 1015998"/>
              <a:gd name="connsiteX4" fmla="*/ 0 w 3316942"/>
              <a:gd name="connsiteY4" fmla="*/ 1015998 h 1015998"/>
              <a:gd name="connsiteX0" fmla="*/ 0 w 3316942"/>
              <a:gd name="connsiteY0" fmla="*/ 1153457 h 1153457"/>
              <a:gd name="connsiteX1" fmla="*/ 446594 w 3316942"/>
              <a:gd name="connsiteY1" fmla="*/ 197224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316942"/>
              <a:gd name="connsiteY0" fmla="*/ 1153457 h 1153457"/>
              <a:gd name="connsiteX1" fmla="*/ 677840 w 3316942"/>
              <a:gd name="connsiteY1" fmla="*/ 65741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316942"/>
              <a:gd name="connsiteY0" fmla="*/ 1153457 h 1153457"/>
              <a:gd name="connsiteX1" fmla="*/ 576670 w 3316942"/>
              <a:gd name="connsiteY1" fmla="*/ 83671 h 1153457"/>
              <a:gd name="connsiteX2" fmla="*/ 3316942 w 3316942"/>
              <a:gd name="connsiteY2" fmla="*/ 0 h 1153457"/>
              <a:gd name="connsiteX3" fmla="*/ 3316941 w 3316942"/>
              <a:gd name="connsiteY3" fmla="*/ 1153457 h 1153457"/>
              <a:gd name="connsiteX4" fmla="*/ 0 w 3316942"/>
              <a:gd name="connsiteY4" fmla="*/ 1153457 h 1153457"/>
              <a:gd name="connsiteX0" fmla="*/ 0 w 3201319"/>
              <a:gd name="connsiteY0" fmla="*/ 1087715 h 1153457"/>
              <a:gd name="connsiteX1" fmla="*/ 461047 w 3201319"/>
              <a:gd name="connsiteY1" fmla="*/ 83671 h 1153457"/>
              <a:gd name="connsiteX2" fmla="*/ 3201319 w 3201319"/>
              <a:gd name="connsiteY2" fmla="*/ 0 h 1153457"/>
              <a:gd name="connsiteX3" fmla="*/ 3201318 w 3201319"/>
              <a:gd name="connsiteY3" fmla="*/ 1153457 h 1153457"/>
              <a:gd name="connsiteX4" fmla="*/ 0 w 3201319"/>
              <a:gd name="connsiteY4" fmla="*/ 1087715 h 1153457"/>
              <a:gd name="connsiteX0" fmla="*/ 0 w 3201318"/>
              <a:gd name="connsiteY0" fmla="*/ 1114323 h 1180065"/>
              <a:gd name="connsiteX1" fmla="*/ 461047 w 3201318"/>
              <a:gd name="connsiteY1" fmla="*/ 110279 h 1180065"/>
              <a:gd name="connsiteX2" fmla="*/ 3034746 w 3201318"/>
              <a:gd name="connsiteY2" fmla="*/ 0 h 1180065"/>
              <a:gd name="connsiteX3" fmla="*/ 3201318 w 3201318"/>
              <a:gd name="connsiteY3" fmla="*/ 1180065 h 1180065"/>
              <a:gd name="connsiteX4" fmla="*/ 0 w 3201318"/>
              <a:gd name="connsiteY4" fmla="*/ 1114323 h 1180065"/>
              <a:gd name="connsiteX0" fmla="*/ 0 w 3201318"/>
              <a:gd name="connsiteY0" fmla="*/ 1114323 h 1180065"/>
              <a:gd name="connsiteX1" fmla="*/ 148723 w 3201318"/>
              <a:gd name="connsiteY1" fmla="*/ 145756 h 1180065"/>
              <a:gd name="connsiteX2" fmla="*/ 3034746 w 3201318"/>
              <a:gd name="connsiteY2" fmla="*/ 0 h 1180065"/>
              <a:gd name="connsiteX3" fmla="*/ 3201318 w 3201318"/>
              <a:gd name="connsiteY3" fmla="*/ 1180065 h 1180065"/>
              <a:gd name="connsiteX4" fmla="*/ 0 w 3201318"/>
              <a:gd name="connsiteY4" fmla="*/ 1114323 h 1180065"/>
              <a:gd name="connsiteX0" fmla="*/ 0 w 3194543"/>
              <a:gd name="connsiteY0" fmla="*/ 1114323 h 1114323"/>
              <a:gd name="connsiteX1" fmla="*/ 148723 w 3194543"/>
              <a:gd name="connsiteY1" fmla="*/ 145756 h 1114323"/>
              <a:gd name="connsiteX2" fmla="*/ 3034746 w 3194543"/>
              <a:gd name="connsiteY2" fmla="*/ 0 h 1114323"/>
              <a:gd name="connsiteX3" fmla="*/ 3194543 w 3194543"/>
              <a:gd name="connsiteY3" fmla="*/ 937640 h 1114323"/>
              <a:gd name="connsiteX4" fmla="*/ 0 w 3194543"/>
              <a:gd name="connsiteY4" fmla="*/ 1114323 h 1114323"/>
              <a:gd name="connsiteX0" fmla="*/ 0 w 3194543"/>
              <a:gd name="connsiteY0" fmla="*/ 768002 h 937640"/>
              <a:gd name="connsiteX1" fmla="*/ 148723 w 3194543"/>
              <a:gd name="connsiteY1" fmla="*/ 145756 h 937640"/>
              <a:gd name="connsiteX2" fmla="*/ 3034746 w 3194543"/>
              <a:gd name="connsiteY2" fmla="*/ 0 h 937640"/>
              <a:gd name="connsiteX3" fmla="*/ 3194543 w 3194543"/>
              <a:gd name="connsiteY3" fmla="*/ 937640 h 937640"/>
              <a:gd name="connsiteX4" fmla="*/ 0 w 3194543"/>
              <a:gd name="connsiteY4" fmla="*/ 768002 h 937640"/>
              <a:gd name="connsiteX0" fmla="*/ 0 w 3235194"/>
              <a:gd name="connsiteY0" fmla="*/ 1125867 h 1125867"/>
              <a:gd name="connsiteX1" fmla="*/ 189374 w 3235194"/>
              <a:gd name="connsiteY1" fmla="*/ 145756 h 1125867"/>
              <a:gd name="connsiteX2" fmla="*/ 3075397 w 3235194"/>
              <a:gd name="connsiteY2" fmla="*/ 0 h 1125867"/>
              <a:gd name="connsiteX3" fmla="*/ 3235194 w 3235194"/>
              <a:gd name="connsiteY3" fmla="*/ 937640 h 1125867"/>
              <a:gd name="connsiteX4" fmla="*/ 0 w 3235194"/>
              <a:gd name="connsiteY4" fmla="*/ 1125867 h 1125867"/>
              <a:gd name="connsiteX0" fmla="*/ 0 w 3228419"/>
              <a:gd name="connsiteY0" fmla="*/ 1125867 h 1125867"/>
              <a:gd name="connsiteX1" fmla="*/ 189374 w 3228419"/>
              <a:gd name="connsiteY1" fmla="*/ 145756 h 1125867"/>
              <a:gd name="connsiteX2" fmla="*/ 3075397 w 3228419"/>
              <a:gd name="connsiteY2" fmla="*/ 0 h 1125867"/>
              <a:gd name="connsiteX3" fmla="*/ 3228419 w 3228419"/>
              <a:gd name="connsiteY3" fmla="*/ 833743 h 1125867"/>
              <a:gd name="connsiteX4" fmla="*/ 0 w 3228419"/>
              <a:gd name="connsiteY4" fmla="*/ 1125867 h 1125867"/>
              <a:gd name="connsiteX0" fmla="*/ 0 w 3221557"/>
              <a:gd name="connsiteY0" fmla="*/ 964549 h 964549"/>
              <a:gd name="connsiteX1" fmla="*/ 182512 w 3221557"/>
              <a:gd name="connsiteY1" fmla="*/ 145756 h 964549"/>
              <a:gd name="connsiteX2" fmla="*/ 3068535 w 3221557"/>
              <a:gd name="connsiteY2" fmla="*/ 0 h 964549"/>
              <a:gd name="connsiteX3" fmla="*/ 3221557 w 3221557"/>
              <a:gd name="connsiteY3" fmla="*/ 833743 h 964549"/>
              <a:gd name="connsiteX4" fmla="*/ 0 w 3221557"/>
              <a:gd name="connsiteY4" fmla="*/ 964549 h 964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1557" h="964549">
                <a:moveTo>
                  <a:pt x="0" y="964549"/>
                </a:moveTo>
                <a:lnTo>
                  <a:pt x="182512" y="145756"/>
                </a:lnTo>
                <a:lnTo>
                  <a:pt x="3068535" y="0"/>
                </a:lnTo>
                <a:cubicBezTo>
                  <a:pt x="3068535" y="338666"/>
                  <a:pt x="3221557" y="495077"/>
                  <a:pt x="3221557" y="833743"/>
                </a:cubicBezTo>
                <a:lnTo>
                  <a:pt x="0" y="964549"/>
                </a:lnTo>
                <a:close/>
              </a:path>
            </a:pathLst>
          </a:custGeom>
          <a:solidFill>
            <a:srgbClr val="3F7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D951FA-7AE1-4631-8185-B3AC8DC27C6E}"/>
              </a:ext>
            </a:extLst>
          </p:cNvPr>
          <p:cNvSpPr txBox="1"/>
          <p:nvPr/>
        </p:nvSpPr>
        <p:spPr>
          <a:xfrm>
            <a:off x="4840345" y="6828919"/>
            <a:ext cx="19886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참고자료</a:t>
            </a:r>
            <a:r>
              <a:rPr lang="en-US" altLang="ko-KR" sz="13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(REFERENCES)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F465D0-FE7D-420E-8C86-1989CAAF0935}"/>
              </a:ext>
            </a:extLst>
          </p:cNvPr>
          <p:cNvSpPr txBox="1"/>
          <p:nvPr/>
        </p:nvSpPr>
        <p:spPr>
          <a:xfrm>
            <a:off x="351548" y="7233130"/>
            <a:ext cx="6648629" cy="2062103"/>
          </a:xfrm>
          <a:custGeom>
            <a:avLst/>
            <a:gdLst>
              <a:gd name="connsiteX0" fmla="*/ 0 w 6255522"/>
              <a:gd name="connsiteY0" fmla="*/ 0 h 215444"/>
              <a:gd name="connsiteX1" fmla="*/ 6255522 w 6255522"/>
              <a:gd name="connsiteY1" fmla="*/ 0 h 215444"/>
              <a:gd name="connsiteX2" fmla="*/ 6255522 w 6255522"/>
              <a:gd name="connsiteY2" fmla="*/ 215444 h 215444"/>
              <a:gd name="connsiteX3" fmla="*/ 0 w 6255522"/>
              <a:gd name="connsiteY3" fmla="*/ 215444 h 215444"/>
              <a:gd name="connsiteX4" fmla="*/ 0 w 6255522"/>
              <a:gd name="connsiteY4" fmla="*/ 0 h 215444"/>
              <a:gd name="connsiteX0" fmla="*/ 0 w 6255522"/>
              <a:gd name="connsiteY0" fmla="*/ 0 h 976020"/>
              <a:gd name="connsiteX1" fmla="*/ 6255522 w 6255522"/>
              <a:gd name="connsiteY1" fmla="*/ 0 h 976020"/>
              <a:gd name="connsiteX2" fmla="*/ 5905145 w 6255522"/>
              <a:gd name="connsiteY2" fmla="*/ 976020 h 976020"/>
              <a:gd name="connsiteX3" fmla="*/ 0 w 6255522"/>
              <a:gd name="connsiteY3" fmla="*/ 215444 h 976020"/>
              <a:gd name="connsiteX4" fmla="*/ 0 w 6255522"/>
              <a:gd name="connsiteY4" fmla="*/ 0 h 976020"/>
              <a:gd name="connsiteX0" fmla="*/ 0 w 6255522"/>
              <a:gd name="connsiteY0" fmla="*/ 0 h 976020"/>
              <a:gd name="connsiteX1" fmla="*/ 6255522 w 6255522"/>
              <a:gd name="connsiteY1" fmla="*/ 0 h 976020"/>
              <a:gd name="connsiteX2" fmla="*/ 5905145 w 6255522"/>
              <a:gd name="connsiteY2" fmla="*/ 976020 h 976020"/>
              <a:gd name="connsiteX3" fmla="*/ 0 w 6255522"/>
              <a:gd name="connsiteY3" fmla="*/ 215444 h 976020"/>
              <a:gd name="connsiteX4" fmla="*/ 0 w 6255522"/>
              <a:gd name="connsiteY4" fmla="*/ 0 h 976020"/>
              <a:gd name="connsiteX0" fmla="*/ 0 w 6255522"/>
              <a:gd name="connsiteY0" fmla="*/ 0 h 1112752"/>
              <a:gd name="connsiteX1" fmla="*/ 6255522 w 6255522"/>
              <a:gd name="connsiteY1" fmla="*/ 0 h 1112752"/>
              <a:gd name="connsiteX2" fmla="*/ 5905145 w 6255522"/>
              <a:gd name="connsiteY2" fmla="*/ 976020 h 1112752"/>
              <a:gd name="connsiteX3" fmla="*/ 8546 w 6255522"/>
              <a:gd name="connsiteY3" fmla="*/ 1112752 h 1112752"/>
              <a:gd name="connsiteX4" fmla="*/ 0 w 6255522"/>
              <a:gd name="connsiteY4" fmla="*/ 0 h 1112752"/>
              <a:gd name="connsiteX0" fmla="*/ 0 w 6648629"/>
              <a:gd name="connsiteY0" fmla="*/ 0 h 1112752"/>
              <a:gd name="connsiteX1" fmla="*/ 6648629 w 6648629"/>
              <a:gd name="connsiteY1" fmla="*/ 0 h 1112752"/>
              <a:gd name="connsiteX2" fmla="*/ 5905145 w 6648629"/>
              <a:gd name="connsiteY2" fmla="*/ 976020 h 1112752"/>
              <a:gd name="connsiteX3" fmla="*/ 8546 w 6648629"/>
              <a:gd name="connsiteY3" fmla="*/ 1112752 h 1112752"/>
              <a:gd name="connsiteX4" fmla="*/ 0 w 6648629"/>
              <a:gd name="connsiteY4" fmla="*/ 0 h 1112752"/>
              <a:gd name="connsiteX0" fmla="*/ 0 w 6648629"/>
              <a:gd name="connsiteY0" fmla="*/ 0 h 1112752"/>
              <a:gd name="connsiteX1" fmla="*/ 6648629 w 6648629"/>
              <a:gd name="connsiteY1" fmla="*/ 0 h 1112752"/>
              <a:gd name="connsiteX2" fmla="*/ 5862416 w 6648629"/>
              <a:gd name="connsiteY2" fmla="*/ 958928 h 1112752"/>
              <a:gd name="connsiteX3" fmla="*/ 8546 w 6648629"/>
              <a:gd name="connsiteY3" fmla="*/ 1112752 h 1112752"/>
              <a:gd name="connsiteX4" fmla="*/ 0 w 6648629"/>
              <a:gd name="connsiteY4" fmla="*/ 0 h 1112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8629" h="1112752">
                <a:moveTo>
                  <a:pt x="0" y="0"/>
                </a:moveTo>
                <a:lnTo>
                  <a:pt x="6648629" y="0"/>
                </a:lnTo>
                <a:lnTo>
                  <a:pt x="5862416" y="958928"/>
                </a:lnTo>
                <a:lnTo>
                  <a:pt x="8546" y="1112752"/>
                </a:lnTo>
                <a:cubicBezTo>
                  <a:pt x="5697" y="741835"/>
                  <a:pt x="2849" y="370917"/>
                  <a:pt x="0" y="0"/>
                </a:cubicBez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① 파라과이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http://koica.go.kr/koica_kr/8053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② 파키스탄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http://koica.go.kr/koica_kr/1234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③ 볼리비아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http://koica.go.kr/koica_kr/1254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④ 우간다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http://koica.go.kr/koica_kr/1294</a:t>
            </a:r>
            <a:endParaRPr lang="en-US" altLang="ko-KR" sz="800" u="sng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⑤ 우즈베키스탄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http://koica.go.kr/koica_kr/1274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⑥ 캄보디아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http://koica.go.kr/koica_kr/1224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⑦  파라과이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http://koica.go.kr/koica_kr/8053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⑧ 파키스탄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http://koica.go.kr/koica_kr/1234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⑨ 볼리비아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http://koica.go.kr/koica_kr/1254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⑩ 우간다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http://koica.go.kr/koica_kr/1294</a:t>
            </a:r>
            <a:endParaRPr lang="en-US" altLang="ko-KR" sz="800" u="sng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⑪ 우즈베키스탄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http://koica.go.kr/koica_kr/1274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⑫ 캄보디아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http://koica.go.kr/koica_kr/1224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⑬  파라과이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http://koica.go.kr/koica_kr/8053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⑭ 파키스탄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http://koica.go.kr/koica_kr/1234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⑮ 볼리비아 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KOICA ODA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사업 </a:t>
            </a:r>
            <a:r>
              <a:rPr lang="ko-KR" altLang="en-US" sz="800" dirty="0" err="1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국별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포트폴리오 평가 보고서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: </a:t>
            </a:r>
            <a:r>
              <a:rPr lang="en-US" altLang="ko-KR" sz="800" u="sng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http://koica.go.kr/koica_kr/1254</a:t>
            </a:r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  <a:p>
            <a:endParaRPr lang="en-US" altLang="ko-KR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함초롬돋움" panose="020B0604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D2822B-DDED-4D1E-A62D-A569A7D00D16}"/>
              </a:ext>
            </a:extLst>
          </p:cNvPr>
          <p:cNvSpPr txBox="1"/>
          <p:nvPr/>
        </p:nvSpPr>
        <p:spPr>
          <a:xfrm>
            <a:off x="-1" y="1065366"/>
            <a:ext cx="6858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III.</a:t>
            </a:r>
            <a:r>
              <a:rPr lang="ko-KR" altLang="en-US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사업 기획</a:t>
            </a:r>
            <a:r>
              <a:rPr lang="en-US" altLang="ko-KR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·</a:t>
            </a:r>
            <a:r>
              <a:rPr lang="ko-KR" altLang="en-US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수행</a:t>
            </a:r>
            <a:r>
              <a:rPr lang="en-US" altLang="ko-KR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·M&amp;E</a:t>
            </a:r>
            <a:r>
              <a:rPr lang="ko-KR" altLang="en-US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를 위한 체크리스트</a:t>
            </a:r>
            <a:r>
              <a:rPr lang="en-US" altLang="ko-KR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(ACCUMULATED</a:t>
            </a:r>
            <a:r>
              <a:rPr lang="ko-KR" altLang="en-US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함초롬돋움" panose="020B0604000101010101" pitchFamily="50" charset="-127"/>
              </a:rPr>
              <a:t>CHECKLIST)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42D7189-5487-40F7-BC42-2936093542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0" y="9789160"/>
          <a:ext cx="6858000" cy="11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51346538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7496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354339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251462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8702822"/>
                    </a:ext>
                  </a:extLst>
                </a:gridCol>
                <a:gridCol w="4698000">
                  <a:extLst>
                    <a:ext uri="{9D8B030D-6E8A-4147-A177-3AD203B41FA5}">
                      <a16:colId xmlns:a16="http://schemas.microsoft.com/office/drawing/2014/main" val="10702572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9183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9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9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A63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9F3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30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E4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B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49114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ADFCC3C6-8815-42B9-A92A-136C9B5B64B9}"/>
              </a:ext>
            </a:extLst>
          </p:cNvPr>
          <p:cNvSpPr txBox="1"/>
          <p:nvPr/>
        </p:nvSpPr>
        <p:spPr>
          <a:xfrm>
            <a:off x="3257058" y="9739335"/>
            <a:ext cx="4188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-2-</a:t>
            </a:r>
            <a:endParaRPr lang="ko-KR" altLang="en-US" sz="800" dirty="0">
              <a:solidFill>
                <a:schemeClr val="bg1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DA8FD1-E4FD-496E-A184-A8D159C26EC5}"/>
              </a:ext>
            </a:extLst>
          </p:cNvPr>
          <p:cNvGraphicFramePr>
            <a:graphicFrameLocks noGrp="1"/>
          </p:cNvGraphicFramePr>
          <p:nvPr/>
        </p:nvGraphicFramePr>
        <p:xfrm>
          <a:off x="8819147" y="3320716"/>
          <a:ext cx="208280" cy="2971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215142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13485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2CD8EC77-F4A2-40BA-8F4F-49445B9FC52B}"/>
              </a:ext>
            </a:extLst>
          </p:cNvPr>
          <p:cNvSpPr txBox="1"/>
          <p:nvPr/>
        </p:nvSpPr>
        <p:spPr>
          <a:xfrm>
            <a:off x="4988140" y="9413074"/>
            <a:ext cx="1840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발간 날짜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: 2022.00.00.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작성자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: 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평가수행기관</a:t>
            </a:r>
            <a:r>
              <a:rPr lang="en-US" altLang="ko-KR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평가책임자명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606C3B9-58EF-4E8A-89AE-EA8AE1023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152877"/>
              </p:ext>
            </p:extLst>
          </p:nvPr>
        </p:nvGraphicFramePr>
        <p:xfrm>
          <a:off x="118097" y="1691073"/>
          <a:ext cx="6664978" cy="441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38">
                  <a:extLst>
                    <a:ext uri="{9D8B030D-6E8A-4147-A177-3AD203B41FA5}">
                      <a16:colId xmlns:a16="http://schemas.microsoft.com/office/drawing/2014/main" val="3508307759"/>
                    </a:ext>
                  </a:extLst>
                </a:gridCol>
                <a:gridCol w="5131482">
                  <a:extLst>
                    <a:ext uri="{9D8B030D-6E8A-4147-A177-3AD203B41FA5}">
                      <a16:colId xmlns:a16="http://schemas.microsoft.com/office/drawing/2014/main" val="4067751038"/>
                    </a:ext>
                  </a:extLst>
                </a:gridCol>
                <a:gridCol w="776558">
                  <a:extLst>
                    <a:ext uri="{9D8B030D-6E8A-4147-A177-3AD203B41FA5}">
                      <a16:colId xmlns:a16="http://schemas.microsoft.com/office/drawing/2014/main" val="3878820185"/>
                    </a:ext>
                  </a:extLst>
                </a:gridCol>
              </a:tblGrid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연번</a:t>
                      </a:r>
                    </a:p>
                  </a:txBody>
                  <a:tcPr anchor="ctr">
                    <a:solidFill>
                      <a:srgbClr val="3E7E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체크리스트</a:t>
                      </a:r>
                    </a:p>
                  </a:txBody>
                  <a:tcPr anchor="ctr">
                    <a:solidFill>
                      <a:srgbClr val="3E7E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예</a:t>
                      </a:r>
                      <a:r>
                        <a:rPr lang="en-US" altLang="ko-KR" sz="1100" dirty="0"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/</a:t>
                      </a:r>
                      <a:r>
                        <a:rPr lang="ko-KR" altLang="en-US" sz="1100" dirty="0" err="1"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아니오</a:t>
                      </a:r>
                      <a:endParaRPr lang="ko-KR" altLang="en-US" sz="1100" dirty="0"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E7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613047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1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 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5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255143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2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 확인하였는가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62204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3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XXXXXX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 점검하였는가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104277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4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XXXXX 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검토하였는가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466997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5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XXXXXX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를 고려하였는가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612340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6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XXXXXXXXXX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를 실시하였는가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547161"/>
                  </a:ext>
                </a:extLst>
              </a:tr>
              <a:tr h="5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7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XXXXXXX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 계획이 있는가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한컴산뜻돋움" panose="02000000000000000000" pitchFamily="2" charset="-127"/>
                          <a:ea typeface="한컴산뜻돋움" panose="02000000000000000000" pitchFamily="2" charset="-127"/>
                        </a:rPr>
                        <a:t>?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, ②, ③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한컴산뜻돋움" panose="02000000000000000000" pitchFamily="2" charset="-127"/>
                          <a:ea typeface="한컴산뜻돋움" panose="02000000000000000000" pitchFamily="2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한컴산뜻돋움" panose="02000000000000000000" pitchFamily="2" charset="-127"/>
                        <a:ea typeface="한컴산뜻돋움" panose="02000000000000000000" pitchFamily="2" charset="-127"/>
                      </a:endParaRPr>
                    </a:p>
                  </a:txBody>
                  <a:tcPr anchor="ctr">
                    <a:solidFill>
                      <a:srgbClr val="3F7E4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387540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7396349A-96BA-4333-B77C-757493227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54" y="18704"/>
            <a:ext cx="1390008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4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1280</TotalTime>
  <Words>1287</Words>
  <Application>Microsoft Office PowerPoint</Application>
  <PresentationFormat>A4 용지(210x297mm)</PresentationFormat>
  <Paragraphs>130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나눔고딕</vt:lpstr>
      <vt:lpstr>맑은 고딕</vt:lpstr>
      <vt:lpstr>한컴 고딕</vt:lpstr>
      <vt:lpstr>한컴산뜻돋움</vt:lpstr>
      <vt:lpstr>함초롬돋움</vt:lpstr>
      <vt:lpstr>함초롬바탕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최세정</dc:creator>
  <cp:lastModifiedBy>koica</cp:lastModifiedBy>
  <cp:revision>46</cp:revision>
  <dcterms:created xsi:type="dcterms:W3CDTF">2021-10-07T01:24:24Z</dcterms:created>
  <dcterms:modified xsi:type="dcterms:W3CDTF">2023-06-01T08:37:24Z</dcterms:modified>
</cp:coreProperties>
</file>